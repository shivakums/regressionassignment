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548640"/>
            <a:ext cx="2560320" cy="2560320"/>
          </a:xfrm>
          <a:prstGeom prst="ellipse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554480" cy="5303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LGB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30552" y="868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oosting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Gradient Boosting Machine — Leaf-wise, Fast &amp; Memory Efficient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2331720" cy="3474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077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907792"/>
            <a:ext cx="2331720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9077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Binning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907792"/>
            <a:ext cx="23317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9077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Microsoft  •  Open-sourced 2016  •  sklearn-compatible API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LightGBM?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794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914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a gradient boosting framework that uses </a:t>
            </a:r>
            <a:pPr indent="0" marL="0">
              <a:buNone/>
            </a:pPr>
            <a:r>
              <a:rPr lang="en-US" sz="12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tree growth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level-wise, making it significantly faster and more memory efficient.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handle massive datasets that slow down XGBoost or sklearn GBM.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 vs XGBoost:
</a:t>
            </a:r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grows trees level-wise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grows leaf-wise (Best-First)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is faster &amp; uses less memory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better on large datasets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4114800" cy="804672"/>
          </a:xfrm>
          <a:prstGeom prst="rect">
            <a:avLst/>
          </a:prstGeom>
          <a:solidFill>
            <a:srgbClr val="F1FF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78992"/>
            <a:ext cx="73152" cy="8046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338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Leaf-wise Tree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the leaf with max delta loss — fewer nodes, better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984248"/>
            <a:ext cx="4114800" cy="804672"/>
          </a:xfrm>
          <a:prstGeom prst="rect">
            <a:avLst/>
          </a:prstGeom>
          <a:solidFill>
            <a:srgbClr val="F1FF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84248"/>
            <a:ext cx="73152" cy="8046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39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Histogram Binning (GOSS)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86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continuous features into discrete buckets, massively cuts compute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9504"/>
            <a:ext cx="4114800" cy="804672"/>
          </a:xfrm>
          <a:prstGeom prst="rect">
            <a:avLst/>
          </a:prstGeom>
          <a:solidFill>
            <a:srgbClr val="F1FF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9504"/>
            <a:ext cx="73152" cy="8046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443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Exclusive Feature Bundling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EFB bundles mutually exclusive sparse features to reduce dimensionality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794760"/>
            <a:ext cx="4114800" cy="804672"/>
          </a:xfrm>
          <a:prstGeom prst="rect">
            <a:avLst/>
          </a:prstGeom>
          <a:solidFill>
            <a:srgbClr val="F1FF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794760"/>
            <a:ext cx="73152" cy="8046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849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Native Categorical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1970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categorical features directly without one-hot encoding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85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LightGBM Works — Leaf-wise Strategy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572768" cy="10972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1417320"/>
            <a:ext cx="548640" cy="5486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(mean of 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19656" y="2743200"/>
            <a:ext cx="128016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184708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188720"/>
            <a:ext cx="1572768" cy="10972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4" name="Shape 12"/>
          <p:cNvSpPr/>
          <p:nvPr/>
        </p:nvSpPr>
        <p:spPr>
          <a:xfrm>
            <a:off x="2478024" y="1417320"/>
            <a:ext cx="548640" cy="5486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5" name="Text 13"/>
          <p:cNvSpPr/>
          <p:nvPr/>
        </p:nvSpPr>
        <p:spPr>
          <a:xfrm>
            <a:off x="247802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3911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second 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(g, 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57016" y="2743200"/>
            <a:ext cx="128016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0332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1188720"/>
            <a:ext cx="1572768" cy="10972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Shape 20"/>
          <p:cNvSpPr/>
          <p:nvPr/>
        </p:nvSpPr>
        <p:spPr>
          <a:xfrm>
            <a:off x="4215384" y="1417320"/>
            <a:ext cx="548640" cy="5486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3" name="Text 21"/>
          <p:cNvSpPr/>
          <p:nvPr/>
        </p:nvSpPr>
        <p:spPr>
          <a:xfrm>
            <a:off x="421538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7647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7647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leaf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gain (not level)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4376" y="2743200"/>
            <a:ext cx="128016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7" name="Text 25"/>
          <p:cNvSpPr/>
          <p:nvPr/>
        </p:nvSpPr>
        <p:spPr>
          <a:xfrm>
            <a:off x="532180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1188720"/>
            <a:ext cx="1572768" cy="10972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52744" y="1417320"/>
            <a:ext cx="548640" cy="5486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1" name="Text 29"/>
          <p:cNvSpPr/>
          <p:nvPr/>
        </p:nvSpPr>
        <p:spPr>
          <a:xfrm>
            <a:off x="595274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1383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1383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tree 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31736" y="2743200"/>
            <a:ext cx="128016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5" name="Text 33"/>
          <p:cNvSpPr/>
          <p:nvPr/>
        </p:nvSpPr>
        <p:spPr>
          <a:xfrm>
            <a:off x="705916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</a:rPr>
              <a:t>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78040" y="1188720"/>
            <a:ext cx="1572768" cy="3429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78040" y="1188720"/>
            <a:ext cx="1572768" cy="109728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38" name="Shape 36"/>
          <p:cNvSpPr/>
          <p:nvPr/>
        </p:nvSpPr>
        <p:spPr>
          <a:xfrm>
            <a:off x="7690104" y="1417320"/>
            <a:ext cx="548640" cy="548640"/>
          </a:xfrm>
          <a:prstGeom prst="ellipse">
            <a:avLst/>
          </a:prstGeom>
          <a:solidFill>
            <a:srgbClr val="76FF03"/>
          </a:solidFill>
          <a:ln/>
        </p:spPr>
      </p:sp>
      <p:sp>
        <p:nvSpPr>
          <p:cNvPr id="39" name="Text 37"/>
          <p:cNvSpPr/>
          <p:nvPr/>
        </p:nvSpPr>
        <p:spPr>
          <a:xfrm>
            <a:off x="769010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5119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5119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all boosted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trees' predictions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Leaf-wise growth finds the best leaf to split (not all leaves at same level like XGBoost)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&amp; Building a LightGBM Regressor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LightGBM is NOT pre-installed in Python — you must install it first: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2834640" cy="21945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98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3167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in Jupyter / terminal before importing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5349240" cy="3246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783080"/>
            <a:ext cx="118872" cy="11887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7830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783080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77393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lightgbm_regressor.py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842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1: Import library ──────────────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218084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lightgbm 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LGBMRegressor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2377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25740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2: Create the model ────────────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" y="27706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regressor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LGBMRegressor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29672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" y="316382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33604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-1 = no limit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5570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" y="37536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9502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1468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3: Train the model ─────────────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" y="43434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53999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" y="47365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4: Predict ─────────────────────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4048" y="49331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regressor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97880" y="1691640"/>
            <a:ext cx="2971800" cy="3246120"/>
          </a:xfrm>
          <a:prstGeom prst="rect">
            <a:avLst/>
          </a:prstGeom>
          <a:solidFill>
            <a:srgbClr val="0D281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97880" y="1691640"/>
            <a:ext cx="2971800" cy="731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1801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Guide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LGBMRegressor(...)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4597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sklearn-compatible regressor; mirrors XGBRegressor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743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n_estimators=75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2990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75 boosting rounds (trees)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273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learning_rate=0.1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XGBoost default — more conservative shrinkage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3803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max_depth=-1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4050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means no depth limit; LightGBM controls depth via num_leaves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4334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random_state=42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4581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for reproducibility across runs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once: !pip install lightgbm   •   Then: from lightgbm import LGBMRegressor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Parameters of LGBMRegressor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2788920" cy="1783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24128"/>
            <a:ext cx="73152" cy="1783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1115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21992" y="1115568"/>
            <a:ext cx="71323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221992" y="11155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4538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default=100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68249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boosting iterations (trees). Each tree corrects the residuals of the previous.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Start at 75–200; combine with early_stopping_rounds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788920" cy="1783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24128"/>
            <a:ext cx="73152" cy="1783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115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66360" y="1115568"/>
            <a:ext cx="71323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1155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4538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default=0.1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168249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applied to each tree's contribution. Lower rate = slower but often better generalization.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Try 0.01–0.1; lower rate → more n_estimators needed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1024128"/>
            <a:ext cx="2788920" cy="1783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24128"/>
            <a:ext cx="73152" cy="1783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115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0728" y="1115568"/>
            <a:ext cx="71323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8110728" y="11155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4538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default=-1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168249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tree depth. -1 means unlimited — LightGBM controls complexity via num_leaves instead of depth.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Leave at -1; tune num_leaves (default 31) instead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962656"/>
            <a:ext cx="2788920" cy="1783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962656"/>
            <a:ext cx="73152" cy="1783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30540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21992" y="3054096"/>
            <a:ext cx="71323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2221992" y="305409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" y="3392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default=31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362102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number of leaves per tree. Core parameter for controlling model complexity in leaf-wise growth.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0624" y="4407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Keep &lt; 2^max_depth to avoid overfitting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2962656"/>
            <a:ext cx="2788920" cy="1783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962656"/>
            <a:ext cx="73152" cy="1783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8" name="Text 36"/>
          <p:cNvSpPr/>
          <p:nvPr/>
        </p:nvSpPr>
        <p:spPr>
          <a:xfrm>
            <a:off x="3364992" y="30540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66360" y="3054096"/>
            <a:ext cx="71323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305409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64992" y="3392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or None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64992" y="362102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 for reproducible results across multiple runs. Essential for experiment tracking.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64992" y="4407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set for reproducible experiments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44768" y="2962656"/>
            <a:ext cx="2788920" cy="17830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4768" y="2962656"/>
            <a:ext cx="73152" cy="1783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0540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 / lambda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10728" y="3054096"/>
            <a:ext cx="71323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8" name="Text 46"/>
          <p:cNvSpPr/>
          <p:nvPr/>
        </p:nvSpPr>
        <p:spPr>
          <a:xfrm>
            <a:off x="8110728" y="305409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3392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default=0.0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09360" y="362102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(alpha) and L2 (lambda) regularization on leaf weights. Helps prevent overfitting on noisy data.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09360" y="4407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Increase both if model overfits; start with 0.1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also supports subsample, colsample_bytree, min_child_samples, bagging_freq and more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Strengths, Weaknesses &amp; Real-World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Fastest training on large datasets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memory footprint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496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categorical feature support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Leaf-wise = higher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502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sklearn-compatible API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GPU &amp; distributed training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65760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Weaknesses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490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overfit on small datasets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Leaf-wise may cause deep trees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2496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params to tune than AdaBoost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2999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Harder to interpret than single tree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3502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!pip install lightgbm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stable on very noisy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005840"/>
            <a:ext cx="2560320" cy="36576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005840"/>
            <a:ext cx="2560320" cy="4114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033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Use Cases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1490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fraud detection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1993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scoring &amp; risk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2496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systems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2999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price forecasting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3502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Kaggle competitions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4005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Large-scale ad click CTR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up to 10× faster than XGBoost on large datasets while using significantly less memory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LightGBM Algorithm</dc:title>
  <dc:subject>PptxGenJS Presentation</dc:subject>
  <dc:creator>PptxGenJS</dc:creator>
  <cp:lastModifiedBy>PptxGenJS</cp:lastModifiedBy>
  <cp:revision>1</cp:revision>
  <dcterms:created xsi:type="dcterms:W3CDTF">2026-05-28T18:17:49Z</dcterms:created>
  <dcterms:modified xsi:type="dcterms:W3CDTF">2026-05-28T18:17:49Z</dcterms:modified>
</cp:coreProperties>
</file>